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365760"/>
            <a:ext cx="2743200" cy="2743200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48640"/>
            <a:ext cx="1280160" cy="1280160"/>
          </a:xfrm>
          <a:prstGeom prst="ellipse">
            <a:avLst/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120640"/>
            <a:ext cx="2194560" cy="2194560"/>
          </a:xfrm>
          <a:prstGeom prst="ellipse">
            <a:avLst/>
          </a:prstGeom>
          <a:solidFill>
            <a:srgbClr val="FF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79" y="4389120"/>
            <a:ext cx="3108960" cy="1005840"/>
          </a:xfrm>
          <a:prstGeom prst="roundRect">
            <a:avLst>
              <a:gd name="adj" fmla="val 18000"/>
            </a:avLst>
          </a:prstGeom>
          <a:solidFill>
            <a:srgbClr val="19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868680" cy="146304"/>
          </a:xfrm>
          <a:prstGeom prst="roundRect">
            <a:avLst>
              <a:gd name="adj" fmla="val 40000"/>
            </a:avLst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38D6C9"/>
                </a:solidFill>
                <a:latin typeface="Microsoft YaHei"/>
              </a:rPr>
              <a:t>高效生活的五个小原则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把时间
花在重要的事情上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0332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CFD8E8"/>
                </a:solidFill>
                <a:latin typeface="Microsoft YaHei"/>
              </a:rPr>
              <a:t>一个适合展示、汇报与分享的 5 页简约风 PPT 模板示例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54480"/>
            <a:ext cx="4023360" cy="2194560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82880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A63FF"/>
                </a:solidFill>
                <a:latin typeface="Microsoft YaHei"/>
              </a:rPr>
              <a:t>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24028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12A3E"/>
                </a:solidFill>
                <a:latin typeface="Microsoft YaHei"/>
              </a:rPr>
              <a:t>课堂展示、主题分享、工作汇报、
个人表达与品牌形象页。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14476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BBD6"/>
                </a:solidFill>
                <a:latin typeface="Microsoft YaHei"/>
              </a:rPr>
              <a:t>PRESENTATION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126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AEBBD6"/>
                </a:solidFill>
                <a:latin typeface="Microsoft YaHe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01168"/>
          </a:xfrm>
          <a:prstGeom prst="roundRect">
            <a:avLst>
              <a:gd name="adj" fmla="val 1000"/>
            </a:avLst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12A3E"/>
                </a:solidFill>
                <a:latin typeface="Microsoft YaHei"/>
              </a:rPr>
              <a:t>为什么我们总觉得时间不够用？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9647E"/>
                </a:solidFill>
                <a:latin typeface="Microsoft YaHei"/>
              </a:rPr>
              <a:t>问题不总是“事情太多”，也可能是注意力被不断切碎。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12A3E"/>
                </a:solidFill>
                <a:latin typeface="Microsoft YaHei"/>
              </a:rPr>
              <a:t>三个常见困扰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423160"/>
            <a:ext cx="292608" cy="292608"/>
          </a:xfrm>
          <a:prstGeom prst="ellipse">
            <a:avLst/>
          </a:prstGeom>
          <a:solidFill>
            <a:srgbClr val="FF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39572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12A3E"/>
                </a:solidFill>
                <a:latin typeface="Microsoft YaHei"/>
              </a:rPr>
              <a:t>信息过载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40487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>
                <a:solidFill>
                  <a:srgbClr val="59647E"/>
                </a:solidFill>
                <a:latin typeface="Microsoft YaHei"/>
              </a:rPr>
              <a:t>消息、短视频、待办事项同时涌来，决策成本变高。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3429000"/>
            <a:ext cx="292608" cy="292608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40156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12A3E"/>
                </a:solidFill>
                <a:latin typeface="Microsoft YaHei"/>
              </a:rPr>
              <a:t>专注稀缺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41071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>
                <a:solidFill>
                  <a:srgbClr val="59647E"/>
                </a:solidFill>
                <a:latin typeface="Microsoft YaHei"/>
              </a:rPr>
              <a:t>切换任务会带来时间损耗，也削弱了完成感。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434840"/>
            <a:ext cx="292608" cy="292608"/>
          </a:xfrm>
          <a:prstGeom prst="ellipse">
            <a:avLst/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4407407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12A3E"/>
                </a:solidFill>
                <a:latin typeface="Microsoft YaHei"/>
              </a:rPr>
              <a:t>节奏失衡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41655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>
                <a:solidFill>
                  <a:srgbClr val="59647E"/>
                </a:solidFill>
                <a:latin typeface="Microsoft YaHei"/>
              </a:rPr>
              <a:t>忙碌不一定等于有效，长期容易疲惫和内耗。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12A3E"/>
                </a:solidFill>
                <a:latin typeface="Microsoft YaHei"/>
              </a:rPr>
              <a:t>改变思路：先管理精力，再管理时间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9647E"/>
                </a:solidFill>
                <a:latin typeface="Microsoft YaHei"/>
              </a:rPr>
              <a:t>当优先级清晰、注意力集中、节奏可持续时，效率会自然提升。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43200"/>
            <a:ext cx="4983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3952" y="2907792"/>
            <a:ext cx="384048" cy="384048"/>
          </a:xfrm>
          <a:prstGeom prst="ellipse">
            <a:avLst/>
          </a:prstGeom>
          <a:solidFill>
            <a:srgbClr val="51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871216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12A3E"/>
                </a:solidFill>
                <a:latin typeface="Microsoft YaHei"/>
              </a:rPr>
              <a:t>减少无效切换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218688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9647E"/>
                </a:solidFill>
                <a:latin typeface="Microsoft YaHei"/>
              </a:rPr>
              <a:t>把相似任务合并处理，降低启动成本。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67328"/>
            <a:ext cx="4983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3952" y="3931920"/>
            <a:ext cx="384048" cy="384048"/>
          </a:xfrm>
          <a:prstGeom prst="ellipse">
            <a:avLst/>
          </a:prstGeom>
          <a:solidFill>
            <a:srgbClr val="40C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95344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12A3E"/>
                </a:solidFill>
                <a:latin typeface="Microsoft YaHei"/>
              </a:rPr>
              <a:t>给重要事项留整块时间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242816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9647E"/>
                </a:solidFill>
                <a:latin typeface="Microsoft YaHei"/>
              </a:rPr>
              <a:t>真正需要深度思考的工作，值得完整时段。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91456"/>
            <a:ext cx="49834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73952" y="4956048"/>
            <a:ext cx="384048" cy="384048"/>
          </a:xfrm>
          <a:prstGeom prst="ellipse">
            <a:avLst/>
          </a:prstGeom>
          <a:solidFill>
            <a:srgbClr val="F36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491947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12A3E"/>
                </a:solidFill>
                <a:latin typeface="Microsoft YaHei"/>
              </a:rPr>
              <a:t>允许节奏有松有紧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5266944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9647E"/>
                </a:solidFill>
                <a:latin typeface="Microsoft YaHei"/>
              </a:rPr>
              <a:t>持续可执行，比短期冲刺更重要。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6126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59647E"/>
                </a:solidFill>
                <a:latin typeface="Microsoft YaHe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五个高效生活原则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DC9E2"/>
                </a:solidFill>
                <a:latin typeface="Microsoft YaHei"/>
              </a:rPr>
              <a:t>从“更忙”切换到“更有重点”。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993392"/>
            <a:ext cx="786384" cy="256032"/>
          </a:xfrm>
          <a:prstGeom prst="roundRect">
            <a:avLst>
              <a:gd name="adj" fmla="val 20000"/>
            </a:avLst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7510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12A3E"/>
                </a:solidFill>
                <a:latin typeface="Microsoft YaHei"/>
              </a:rPr>
              <a:t>先定优先级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2491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59647E"/>
                </a:solidFill>
                <a:latin typeface="Microsoft YaHei"/>
              </a:rPr>
              <a:t>每天只抓住 1—3 件真正重要的事。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288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72" y="1993392"/>
            <a:ext cx="786384" cy="256032"/>
          </a:xfrm>
          <a:prstGeom prst="roundRect">
            <a:avLst>
              <a:gd name="adj" fmla="val 20000"/>
            </a:avLst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97510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3591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12A3E"/>
                </a:solidFill>
                <a:latin typeface="Microsoft YaHei"/>
              </a:rPr>
              <a:t>用整块时间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72491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59647E"/>
                </a:solidFill>
                <a:latin typeface="Microsoft YaHei"/>
              </a:rPr>
              <a:t>把深度工作放进完整时段，而不是碎片里。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8288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16952" y="1993392"/>
            <a:ext cx="786384" cy="256032"/>
          </a:xfrm>
          <a:prstGeom prst="roundRect">
            <a:avLst>
              <a:gd name="adj" fmla="val 20000"/>
            </a:avLst>
          </a:prstGeom>
          <a:solidFill>
            <a:srgbClr val="FF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197510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3591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12A3E"/>
                </a:solidFill>
                <a:latin typeface="Microsoft YaHei"/>
              </a:rPr>
              <a:t>做减法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72491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59647E"/>
                </a:solidFill>
                <a:latin typeface="Microsoft YaHei"/>
              </a:rPr>
              <a:t>删除低价值消耗，给关键目标腾空间。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84048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42032" y="4005072"/>
            <a:ext cx="786384" cy="256032"/>
          </a:xfrm>
          <a:prstGeom prst="roundRect">
            <a:avLst>
              <a:gd name="adj" fmla="val 20000"/>
            </a:avLst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398678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437083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12A3E"/>
                </a:solidFill>
                <a:latin typeface="Microsoft YaHei"/>
              </a:rPr>
              <a:t>建立节奏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73659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59647E"/>
                </a:solidFill>
                <a:latin typeface="Microsoft YaHei"/>
              </a:rPr>
              <a:t>把效率做成习惯，而不是靠临时意志力。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84048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25312" y="4005072"/>
            <a:ext cx="786384" cy="256032"/>
          </a:xfrm>
          <a:prstGeom prst="roundRect">
            <a:avLst>
              <a:gd name="adj" fmla="val 20000"/>
            </a:avLst>
          </a:prstGeom>
          <a:solidFill>
            <a:srgbClr val="40C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8" y="3986784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437083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12A3E"/>
                </a:solidFill>
                <a:latin typeface="Microsoft YaHei"/>
              </a:rPr>
              <a:t>每周复盘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473659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59647E"/>
                </a:solidFill>
                <a:latin typeface="Microsoft YaHei"/>
              </a:rPr>
              <a:t>看结果、找原因、微调下一周的方法。</a:t>
            </a:r>
          </a:p>
        </p:txBody>
      </p:sp>
      <p:sp>
        <p:nvSpPr>
          <p:cNvPr id="29" name="Oval 28"/>
          <p:cNvSpPr/>
          <p:nvPr/>
        </p:nvSpPr>
        <p:spPr>
          <a:xfrm>
            <a:off x="2286000" y="5669280"/>
            <a:ext cx="128016" cy="128016"/>
          </a:xfrm>
          <a:prstGeom prst="ellipse">
            <a:avLst/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733288"/>
            <a:ext cx="1920240" cy="0"/>
          </a:xfrm>
          <a:prstGeom prst="line">
            <a:avLst/>
          </a:prstGeom>
          <a:ln w="19050">
            <a:solidFill>
              <a:srgbClr val="586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480560" y="5669280"/>
            <a:ext cx="128016" cy="128016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636008" y="5733288"/>
            <a:ext cx="1920240" cy="0"/>
          </a:xfrm>
          <a:prstGeom prst="line">
            <a:avLst/>
          </a:prstGeom>
          <a:ln w="19050">
            <a:solidFill>
              <a:srgbClr val="586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675120" y="5669280"/>
            <a:ext cx="128016" cy="128016"/>
          </a:xfrm>
          <a:prstGeom prst="ellipse">
            <a:avLst/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830568" y="5733288"/>
            <a:ext cx="1920240" cy="0"/>
          </a:xfrm>
          <a:prstGeom prst="line">
            <a:avLst/>
          </a:prstGeom>
          <a:ln w="19050">
            <a:solidFill>
              <a:srgbClr val="586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869680" y="5669280"/>
            <a:ext cx="128016" cy="128016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98932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AEBBD6"/>
                </a:solidFill>
                <a:latin typeface="Microsoft YaHei"/>
              </a:rPr>
              <a:t>关键词：重点、专注、减法、节奏、复盘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6126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AEBBD6"/>
                </a:solidFill>
                <a:latin typeface="Microsoft YaHe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12A3E"/>
                </a:solidFill>
                <a:latin typeface="Microsoft YaHei"/>
              </a:rPr>
              <a:t>把方法用到真实场景里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59647E"/>
                </a:solidFill>
                <a:latin typeface="Microsoft YaHei"/>
              </a:rPr>
              <a:t>同样的方法，在学习、工作和生活中都能形成正反馈。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07792"/>
            <a:ext cx="10241280" cy="146304"/>
          </a:xfrm>
          <a:prstGeom prst="roundRect">
            <a:avLst>
              <a:gd name="adj" fmla="val 10000"/>
            </a:avLst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0512" y="2743200"/>
            <a:ext cx="457200" cy="457200"/>
          </a:xfrm>
          <a:prstGeom prst="ellipse">
            <a:avLst/>
          </a:prstGeom>
          <a:solidFill>
            <a:srgbClr val="51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470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12A3E"/>
                </a:solidFill>
                <a:latin typeface="Microsoft YaHei"/>
              </a:rPr>
              <a:t>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01568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20" b="0">
                <a:solidFill>
                  <a:srgbClr val="59647E"/>
                </a:solidFill>
                <a:latin typeface="Microsoft YaHei"/>
              </a:rPr>
              <a:t>把复习拆成主题块，先难后易，提高投入质量。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7" y="4251960"/>
            <a:ext cx="1234440" cy="310896"/>
          </a:xfrm>
          <a:prstGeom prst="roundRect">
            <a:avLst>
              <a:gd name="adj" fmla="val 20000"/>
            </a:avLst>
          </a:prstGeom>
          <a:solidFill>
            <a:srgbClr val="51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4207" y="426110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可立即开始</a:t>
            </a:r>
          </a:p>
        </p:txBody>
      </p:sp>
      <p:sp>
        <p:nvSpPr>
          <p:cNvPr id="11" name="Oval 10"/>
          <p:cNvSpPr/>
          <p:nvPr/>
        </p:nvSpPr>
        <p:spPr>
          <a:xfrm>
            <a:off x="4782312" y="2743200"/>
            <a:ext cx="457200" cy="457200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69080" y="164592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8470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12A3E"/>
                </a:solidFill>
                <a:latin typeface="Microsoft YaHei"/>
              </a:rPr>
              <a:t>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01568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20" b="0">
                <a:solidFill>
                  <a:srgbClr val="59647E"/>
                </a:solidFill>
                <a:latin typeface="Microsoft YaHei"/>
              </a:rPr>
              <a:t>把会议、回复、思考型任务区分处理，减少打断。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36008" y="4251960"/>
            <a:ext cx="1234440" cy="310896"/>
          </a:xfrm>
          <a:prstGeom prst="roundRect">
            <a:avLst>
              <a:gd name="adj" fmla="val 20000"/>
            </a:avLst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426110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可立即开始</a:t>
            </a:r>
          </a:p>
        </p:txBody>
      </p:sp>
      <p:sp>
        <p:nvSpPr>
          <p:cNvPr id="17" name="Oval 16"/>
          <p:cNvSpPr/>
          <p:nvPr/>
        </p:nvSpPr>
        <p:spPr>
          <a:xfrm>
            <a:off x="7754112" y="2743200"/>
            <a:ext cx="457200" cy="457200"/>
          </a:xfrm>
          <a:prstGeom prst="ellipse">
            <a:avLst/>
          </a:prstGeom>
          <a:solidFill>
            <a:srgbClr val="40C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0" y="1645920"/>
            <a:ext cx="23774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84708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12A3E"/>
                </a:solidFill>
                <a:latin typeface="Microsoft YaHei"/>
              </a:rPr>
              <a:t>生活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401568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20" b="0">
                <a:solidFill>
                  <a:srgbClr val="59647E"/>
                </a:solidFill>
                <a:latin typeface="Microsoft YaHei"/>
              </a:rPr>
              <a:t>为运动、阅读、休息预留时间，让状态更稳定。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4251960"/>
            <a:ext cx="1234440" cy="310896"/>
          </a:xfrm>
          <a:prstGeom prst="roundRect">
            <a:avLst>
              <a:gd name="adj" fmla="val 20000"/>
            </a:avLst>
          </a:prstGeom>
          <a:solidFill>
            <a:srgbClr val="40C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426110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可立即开始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166360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367528"/>
            <a:ext cx="9509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12A3E"/>
                </a:solidFill>
                <a:latin typeface="Microsoft YaHei"/>
              </a:rPr>
              <a:t>高效不是把每一分钟都塞满，而是让重要的事被看见、被完成、被持续。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6126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59647E"/>
                </a:solidFill>
                <a:latin typeface="Microsoft YaHe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182880"/>
            <a:ext cx="2377440" cy="2377440"/>
          </a:xfrm>
          <a:prstGeom prst="ellipse">
            <a:avLst/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731520"/>
            <a:ext cx="1097280" cy="1097280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960120" cy="146304"/>
          </a:xfrm>
          <a:prstGeom prst="roundRect">
            <a:avLst>
              <a:gd name="adj" fmla="val 40000"/>
            </a:avLst>
          </a:prstGeom>
          <a:solidFill>
            <a:srgbClr val="FF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从这一周开始，做一个小改变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BDC9E2"/>
                </a:solidFill>
                <a:latin typeface="Microsoft YaHei"/>
              </a:rPr>
              <a:t>行动比“完美计划”更重要。先从最容易执行的一步开始。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274320" cy="274320"/>
          </a:xfrm>
          <a:prstGeom prst="ellipse">
            <a:avLst/>
          </a:prstGeom>
          <a:solidFill>
            <a:srgbClr val="38D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3042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列出本周最重要的 3 件事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46120"/>
            <a:ext cx="274320" cy="274320"/>
          </a:xfrm>
          <a:prstGeom prst="ellipse">
            <a:avLst/>
          </a:prstGeom>
          <a:solidFill>
            <a:srgbClr val="8A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3218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每天预留 1 段 60 分钟专注时间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60520"/>
            <a:ext cx="274320" cy="274320"/>
          </a:xfrm>
          <a:prstGeom prst="ellipse">
            <a:avLst/>
          </a:prstGeom>
          <a:solidFill>
            <a:srgbClr val="FF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4133087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删掉 1 个低价值习惯或打断源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600200"/>
            <a:ext cx="397763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87451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8A63FF"/>
                </a:solidFill>
                <a:latin typeface="Microsoft YaHei"/>
              </a:rPr>
              <a:t>本页可替换为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2331720"/>
            <a:ext cx="3154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212A3E"/>
                </a:solidFill>
                <a:latin typeface="Microsoft YaHei"/>
              </a:rPr>
              <a:t>总结页
行动计划页
Q&amp;A 页
联系方式页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406908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59647E"/>
                </a:solidFill>
                <a:latin typeface="Microsoft YaHei"/>
              </a:rPr>
              <a:t>如果你要用于答辩或汇报，我也可以继续把它改成对应主题版本。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8D6C9"/>
                </a:solidFill>
                <a:latin typeface="Microsoft YaHei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6126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AEBBD6"/>
                </a:solidFill>
                <a:latin typeface="Microsoft YaHe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